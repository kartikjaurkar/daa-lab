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ptos Bold" charset="1" panose="020B0004020202020204"/>
      <p:regular r:id="rId19"/>
    </p:embeddedFont>
    <p:embeddedFont>
      <p:font typeface="Poppins Bold" charset="1" panose="00000800000000000000"/>
      <p:regular r:id="rId20"/>
    </p:embeddedFont>
    <p:embeddedFont>
      <p:font typeface="Aptos" charset="1" panose="020B0004020202020204"/>
      <p:regular r:id="rId21"/>
    </p:embeddedFont>
    <p:embeddedFont>
      <p:font typeface="Courier New Bold" charset="1" panose="02070609020205020404"/>
      <p:regular r:id="rId22"/>
    </p:embeddedFont>
    <p:embeddedFont>
      <p:font typeface="Courier New" charset="1" panose="020703090202050204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Masters/notesMaster1.xml" Type="http://schemas.openxmlformats.org/officeDocument/2006/relationships/notesMaster"/><Relationship Id="rId25" Target="theme/theme2.xml" Type="http://schemas.openxmlformats.org/officeDocument/2006/relationships/theme"/><Relationship Id="rId26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Viva prompts: V−1 edges suffice for a simple shortest path; relaxation tests and improves a tentative distance; a further improvement after V−1 passes indicates a reachable negative cycle.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02A43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14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52500" y="1104900"/>
            <a:ext cx="4762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 spc="207" b="true">
                <a:solidFill>
                  <a:srgbClr val="F28C28"/>
                </a:solidFill>
                <a:latin typeface="Aptos Bold"/>
                <a:ea typeface="Aptos Bold"/>
                <a:cs typeface="Aptos Bold"/>
                <a:sym typeface="Aptos Bold"/>
              </a:rPr>
              <a:t>COLLEGE CLASSROOM PRESENTATION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2500" y="2362200"/>
            <a:ext cx="5334000" cy="1605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3"/>
              </a:lnSpc>
            </a:pPr>
            <a:r>
              <a:rPr lang="en-US" sz="577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Bellman–Ford</a:t>
            </a:r>
          </a:p>
          <a:p>
            <a:pPr algn="l">
              <a:lnSpc>
                <a:spcPts val="6063"/>
              </a:lnSpc>
            </a:pPr>
            <a:r>
              <a:rPr lang="en-US" sz="577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2500" y="4924425"/>
            <a:ext cx="4857750" cy="74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Aptos"/>
                <a:ea typeface="Aptos"/>
                <a:cs typeface="Aptos"/>
                <a:sym typeface="Aptos"/>
              </a:rPr>
              <a:t>Finding Shortest Paths in Weighted Graphs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2500" y="8534400"/>
            <a:ext cx="4762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DCEFFF"/>
                </a:solidFill>
                <a:latin typeface="Aptos"/>
                <a:ea typeface="Aptos"/>
                <a:cs typeface="Aptos"/>
                <a:sym typeface="Aptos"/>
              </a:rPr>
              <a:t>Presenter name  •  Course / Class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0172700" y="2714625"/>
            <a:ext cx="2114550" cy="1714500"/>
          </a:xfrm>
          <a:prstGeom prst="line">
            <a:avLst/>
          </a:prstGeom>
          <a:ln cap="rnd" w="8572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" id="10"/>
          <p:cNvSpPr/>
          <p:nvPr/>
        </p:nvSpPr>
        <p:spPr>
          <a:xfrm>
            <a:off x="13163550" y="2571750"/>
            <a:ext cx="1885950" cy="1714500"/>
          </a:xfrm>
          <a:prstGeom prst="line">
            <a:avLst/>
          </a:prstGeom>
          <a:ln cap="rnd" w="38100">
            <a:solidFill>
              <a:srgbClr val="102A4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1" id="11"/>
          <p:cNvSpPr/>
          <p:nvPr/>
        </p:nvSpPr>
        <p:spPr>
          <a:xfrm flipH="true">
            <a:off x="13049250" y="4905375"/>
            <a:ext cx="2000250" cy="2238375"/>
          </a:xfrm>
          <a:prstGeom prst="line">
            <a:avLst/>
          </a:prstGeom>
          <a:ln cap="rnd" w="66675">
            <a:solidFill>
              <a:srgbClr val="F28C2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10172700" y="4953000"/>
            <a:ext cx="2019300" cy="2286000"/>
          </a:xfrm>
          <a:prstGeom prst="line">
            <a:avLst/>
          </a:prstGeom>
          <a:ln cap="rnd" w="8572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3" id="13"/>
          <p:cNvGrpSpPr/>
          <p:nvPr/>
        </p:nvGrpSpPr>
        <p:grpSpPr>
          <a:xfrm rot="0">
            <a:off x="9334500" y="4191000"/>
            <a:ext cx="876300" cy="876300"/>
            <a:chOff x="0" y="0"/>
            <a:chExt cx="1168400" cy="1168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DCE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287250" y="2095500"/>
            <a:ext cx="876300" cy="876300"/>
            <a:chOff x="0" y="0"/>
            <a:chExt cx="1168400" cy="1168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049500" y="4095750"/>
            <a:ext cx="876300" cy="876300"/>
            <a:chOff x="0" y="0"/>
            <a:chExt cx="1168400" cy="1168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DCE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192000" y="6953250"/>
            <a:ext cx="876300" cy="876300"/>
            <a:chOff x="0" y="0"/>
            <a:chExt cx="1168400" cy="1168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95325"/>
            <a:ext cx="142875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What Does the Algorithm Do?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400175"/>
            <a:ext cx="1476375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65758B"/>
                </a:solidFill>
                <a:latin typeface="Aptos"/>
                <a:ea typeface="Aptos"/>
                <a:cs typeface="Aptos"/>
                <a:sym typeface="Aptos"/>
              </a:rPr>
              <a:t>One algorithm, three important capabilities.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2571750"/>
            <a:ext cx="9239250" cy="1381125"/>
            <a:chOff x="0" y="0"/>
            <a:chExt cx="12319000" cy="18415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2319000" cy="1841500"/>
              <a:chOff x="0" y="0"/>
              <a:chExt cx="12319000" cy="18415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2319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12319000">
                    <a:moveTo>
                      <a:pt x="0" y="0"/>
                    </a:moveTo>
                    <a:lnTo>
                      <a:pt x="12319000" y="0"/>
                    </a:lnTo>
                    <a:lnTo>
                      <a:pt x="12319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F7FBFF"/>
              </a:solidFill>
              <a:ln w="19050" cap="sq">
                <a:solidFill>
                  <a:srgbClr val="CBD8E6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2319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381000" y="304800"/>
              <a:ext cx="1016000" cy="619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b="true">
                  <a:solidFill>
                    <a:srgbClr val="2F80E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778000" y="352425"/>
              <a:ext cx="9906000" cy="11029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>
                  <a:solidFill>
                    <a:srgbClr val="102A43"/>
                  </a:solidFill>
                  <a:latin typeface="Aptos"/>
                  <a:ea typeface="Aptos"/>
                  <a:cs typeface="Aptos"/>
                  <a:sym typeface="Aptos"/>
                </a:rPr>
                <a:t>Finds shortest distances from one source to every reachable vertex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2500" y="4333875"/>
            <a:ext cx="9239250" cy="1381125"/>
            <a:chOff x="0" y="0"/>
            <a:chExt cx="12319000" cy="18415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2319000" cy="1841500"/>
              <a:chOff x="0" y="0"/>
              <a:chExt cx="12319000" cy="18415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2319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12319000">
                    <a:moveTo>
                      <a:pt x="0" y="0"/>
                    </a:moveTo>
                    <a:lnTo>
                      <a:pt x="12319000" y="0"/>
                    </a:lnTo>
                    <a:lnTo>
                      <a:pt x="12319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DCEFFF"/>
              </a:solidFill>
              <a:ln w="19050" cap="sq">
                <a:solidFill>
                  <a:srgbClr val="CBD8E6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12319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381000" y="304800"/>
              <a:ext cx="1016000" cy="619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b="true">
                  <a:solidFill>
                    <a:srgbClr val="2F80E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778000" y="352425"/>
              <a:ext cx="9906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>
                  <a:solidFill>
                    <a:srgbClr val="102A43"/>
                  </a:solidFill>
                  <a:latin typeface="Aptos"/>
                  <a:ea typeface="Aptos"/>
                  <a:cs typeface="Aptos"/>
                  <a:sym typeface="Aptos"/>
                </a:rPr>
                <a:t>Supports graphs with negative edge weights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" y="6096000"/>
            <a:ext cx="9239250" cy="1381125"/>
            <a:chOff x="0" y="0"/>
            <a:chExt cx="12319000" cy="18415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2319000" cy="1841500"/>
              <a:chOff x="0" y="0"/>
              <a:chExt cx="12319000" cy="18415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2319000" cy="1841500"/>
              </a:xfrm>
              <a:custGeom>
                <a:avLst/>
                <a:gdLst/>
                <a:ahLst/>
                <a:cxnLst/>
                <a:rect r="r" b="b" t="t" l="l"/>
                <a:pathLst>
                  <a:path h="1841500" w="12319000">
                    <a:moveTo>
                      <a:pt x="0" y="0"/>
                    </a:moveTo>
                    <a:lnTo>
                      <a:pt x="12319000" y="0"/>
                    </a:lnTo>
                    <a:lnTo>
                      <a:pt x="12319000" y="1841500"/>
                    </a:lnTo>
                    <a:lnTo>
                      <a:pt x="0" y="1841500"/>
                    </a:lnTo>
                    <a:close/>
                  </a:path>
                </a:pathLst>
              </a:custGeom>
              <a:solidFill>
                <a:srgbClr val="F7FBFF"/>
              </a:solidFill>
              <a:ln w="19050" cap="sq">
                <a:solidFill>
                  <a:srgbClr val="CBD8E6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2319000" cy="1879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381000" y="304800"/>
              <a:ext cx="1016000" cy="619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779"/>
                </a:lnSpc>
              </a:pPr>
              <a:r>
                <a:rPr lang="en-US" sz="2700" b="true">
                  <a:solidFill>
                    <a:srgbClr val="2F80E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778000" y="352425"/>
              <a:ext cx="9906000" cy="54419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15"/>
                </a:lnSpc>
              </a:pPr>
              <a:r>
                <a:rPr lang="en-US" sz="2550">
                  <a:solidFill>
                    <a:srgbClr val="102A43"/>
                  </a:solidFill>
                  <a:latin typeface="Aptos"/>
                  <a:ea typeface="Aptos"/>
                  <a:cs typeface="Aptos"/>
                  <a:sym typeface="Aptos"/>
                </a:rPr>
                <a:t>Detects reachable negative-weight cycles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 flipV="true">
            <a:off x="12001500" y="2857500"/>
            <a:ext cx="2381250" cy="762000"/>
          </a:xfrm>
          <a:prstGeom prst="line">
            <a:avLst/>
          </a:prstGeom>
          <a:ln cap="rnd" w="38100">
            <a:solidFill>
              <a:srgbClr val="102A4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3" id="23"/>
          <p:cNvSpPr/>
          <p:nvPr/>
        </p:nvSpPr>
        <p:spPr>
          <a:xfrm flipH="true">
            <a:off x="13811250" y="3524250"/>
            <a:ext cx="904875" cy="2667000"/>
          </a:xfrm>
          <a:prstGeom prst="line">
            <a:avLst/>
          </a:prstGeom>
          <a:ln cap="rnd" w="38100">
            <a:solidFill>
              <a:srgbClr val="F28C2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4" id="24"/>
          <p:cNvSpPr/>
          <p:nvPr/>
        </p:nvSpPr>
        <p:spPr>
          <a:xfrm flipH="true" flipV="true">
            <a:off x="11763375" y="4333875"/>
            <a:ext cx="1476375" cy="2238375"/>
          </a:xfrm>
          <a:prstGeom prst="line">
            <a:avLst/>
          </a:prstGeom>
          <a:ln cap="rnd" w="38100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5" id="25"/>
          <p:cNvGrpSpPr/>
          <p:nvPr/>
        </p:nvGrpSpPr>
        <p:grpSpPr>
          <a:xfrm rot="0">
            <a:off x="11144250" y="3333750"/>
            <a:ext cx="876300" cy="876300"/>
            <a:chOff x="0" y="0"/>
            <a:chExt cx="1168400" cy="1168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DCE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382750" y="2428875"/>
            <a:ext cx="876300" cy="876300"/>
            <a:chOff x="0" y="0"/>
            <a:chExt cx="1168400" cy="1168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144500" y="6191250"/>
            <a:ext cx="876300" cy="876300"/>
            <a:chOff x="0" y="0"/>
            <a:chExt cx="1168400" cy="1168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096875" y="2838450"/>
            <a:ext cx="76200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+4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382750" y="4724400"/>
            <a:ext cx="7620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F28C28"/>
                </a:solidFill>
                <a:latin typeface="Aptos Bold"/>
                <a:ea typeface="Aptos Bold"/>
                <a:cs typeface="Aptos Bold"/>
                <a:sym typeface="Aptos Bold"/>
              </a:rPr>
              <a:t>−6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01500" y="5600700"/>
            <a:ext cx="76200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+1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95325"/>
            <a:ext cx="142875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The Main Idea: Edge Relaxation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400175"/>
            <a:ext cx="1476375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65758B"/>
                </a:solidFill>
                <a:latin typeface="Aptos"/>
                <a:ea typeface="Aptos"/>
                <a:cs typeface="Aptos"/>
                <a:sym typeface="Aptos"/>
              </a:rPr>
              <a:t>If a better route is found, update the distance.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190750" y="2381250"/>
            <a:ext cx="13906500" cy="1809750"/>
            <a:chOff x="0" y="0"/>
            <a:chExt cx="18542000" cy="2413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54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18542000">
                  <a:moveTo>
                    <a:pt x="0" y="0"/>
                  </a:moveTo>
                  <a:lnTo>
                    <a:pt x="18542000" y="0"/>
                  </a:lnTo>
                  <a:lnTo>
                    <a:pt x="18542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102A43"/>
            </a:solidFill>
            <a:ln w="19050" cap="sq">
              <a:solidFill>
                <a:srgbClr val="102A4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542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762250" y="2838450"/>
            <a:ext cx="12763500" cy="50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4"/>
              </a:lnSpc>
            </a:pPr>
            <a:r>
              <a:rPr lang="en-US" sz="2925" b="true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dist[u] + w(u,v) &lt; dist[v]  →  dist[v] = dist[u] + w(u,v)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67000" y="5105400"/>
            <a:ext cx="2286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65758B"/>
                </a:solidFill>
                <a:latin typeface="Aptos Bold"/>
                <a:ea typeface="Aptos Bold"/>
                <a:cs typeface="Aptos Bold"/>
                <a:sym typeface="Aptos Bold"/>
              </a:rPr>
              <a:t>BEFORE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049000" y="5105400"/>
            <a:ext cx="314325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F80ED"/>
                </a:solidFill>
                <a:latin typeface="Aptos Bold"/>
                <a:ea typeface="Aptos Bold"/>
                <a:cs typeface="Aptos Bold"/>
                <a:sym typeface="Aptos Bold"/>
              </a:rPr>
              <a:t>AFTER RELAXATION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1750" y="7219950"/>
            <a:ext cx="2857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dist[A] =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86500" y="7219950"/>
            <a:ext cx="2857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dist[B] = 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0" y="7219950"/>
            <a:ext cx="28575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dist[A] = 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192250" y="7200900"/>
            <a:ext cx="2857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28C28"/>
                </a:solidFill>
                <a:latin typeface="Aptos Bold"/>
                <a:ea typeface="Aptos Bold"/>
                <a:cs typeface="Aptos Bold"/>
                <a:sym typeface="Aptos Bold"/>
              </a:rPr>
              <a:t>dist[B] = 7</a:t>
            </a:r>
          </a:p>
        </p:txBody>
      </p:sp>
      <p:sp>
        <p:nvSpPr>
          <p:cNvPr name="AutoShape 14" id="14"/>
          <p:cNvSpPr/>
          <p:nvPr/>
        </p:nvSpPr>
        <p:spPr>
          <a:xfrm>
            <a:off x="4953000" y="6572250"/>
            <a:ext cx="1619250" cy="0"/>
          </a:xfrm>
          <a:prstGeom prst="line">
            <a:avLst/>
          </a:prstGeom>
          <a:ln cap="rnd" w="38100">
            <a:solidFill>
              <a:srgbClr val="102A4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>
            <a:off x="12858750" y="6572250"/>
            <a:ext cx="1619250" cy="0"/>
          </a:xfrm>
          <a:prstGeom prst="line">
            <a:avLst/>
          </a:prstGeom>
          <a:ln cap="rnd" w="76200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6" id="16"/>
          <p:cNvGrpSpPr/>
          <p:nvPr/>
        </p:nvGrpSpPr>
        <p:grpSpPr>
          <a:xfrm rot="0">
            <a:off x="4000500" y="6143625"/>
            <a:ext cx="876300" cy="876300"/>
            <a:chOff x="0" y="0"/>
            <a:chExt cx="1168400" cy="1168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572250" y="6143625"/>
            <a:ext cx="876300" cy="876300"/>
            <a:chOff x="0" y="0"/>
            <a:chExt cx="1168400" cy="1168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906250" y="6143625"/>
            <a:ext cx="876300" cy="876300"/>
            <a:chOff x="0" y="0"/>
            <a:chExt cx="1168400" cy="1168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DCE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478000" y="6143625"/>
            <a:ext cx="876300" cy="876300"/>
            <a:chOff x="0" y="0"/>
            <a:chExt cx="1168400" cy="1168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DCEFFF"/>
            </a:solidFill>
            <a:ln w="38100" cap="sq">
              <a:solidFill>
                <a:srgbClr val="F28C2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5429250" y="6029325"/>
            <a:ext cx="76200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+4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335000" y="6029325"/>
            <a:ext cx="762000" cy="308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5"/>
              </a:lnSpc>
            </a:pPr>
            <a:r>
              <a:rPr lang="en-US" sz="1950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+4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95325"/>
            <a:ext cx="142875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How the Algorithm Works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400175"/>
            <a:ext cx="1476375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65758B"/>
                </a:solidFill>
                <a:latin typeface="Aptos"/>
                <a:ea typeface="Aptos"/>
                <a:cs typeface="Aptos"/>
                <a:sym typeface="Aptos"/>
              </a:rPr>
              <a:t>A predictable sequence built around repeated relaxation.</a:t>
            </a:r>
          </a:p>
        </p:txBody>
      </p:sp>
      <p:sp>
        <p:nvSpPr>
          <p:cNvPr name="AutoShape 4" id="4"/>
          <p:cNvSpPr/>
          <p:nvPr/>
        </p:nvSpPr>
        <p:spPr>
          <a:xfrm>
            <a:off x="3524250" y="4762500"/>
            <a:ext cx="571500" cy="0"/>
          </a:xfrm>
          <a:prstGeom prst="line">
            <a:avLst/>
          </a:prstGeom>
          <a:ln cap="rnd" w="57150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" id="5"/>
          <p:cNvSpPr/>
          <p:nvPr/>
        </p:nvSpPr>
        <p:spPr>
          <a:xfrm>
            <a:off x="6953250" y="4762500"/>
            <a:ext cx="571500" cy="0"/>
          </a:xfrm>
          <a:prstGeom prst="line">
            <a:avLst/>
          </a:prstGeom>
          <a:ln cap="rnd" w="57150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" id="6"/>
          <p:cNvSpPr/>
          <p:nvPr/>
        </p:nvSpPr>
        <p:spPr>
          <a:xfrm>
            <a:off x="10382250" y="4762500"/>
            <a:ext cx="571500" cy="0"/>
          </a:xfrm>
          <a:prstGeom prst="line">
            <a:avLst/>
          </a:prstGeom>
          <a:ln cap="rnd" w="57150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" id="7"/>
          <p:cNvSpPr/>
          <p:nvPr/>
        </p:nvSpPr>
        <p:spPr>
          <a:xfrm>
            <a:off x="13811250" y="4762500"/>
            <a:ext cx="571500" cy="0"/>
          </a:xfrm>
          <a:prstGeom prst="line">
            <a:avLst/>
          </a:prstGeom>
          <a:ln cap="rnd" w="57150">
            <a:solidFill>
              <a:srgbClr val="F28C2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" id="8"/>
          <p:cNvGrpSpPr/>
          <p:nvPr/>
        </p:nvGrpSpPr>
        <p:grpSpPr>
          <a:xfrm rot="0">
            <a:off x="857250" y="3429000"/>
            <a:ext cx="2667000" cy="3740467"/>
            <a:chOff x="0" y="0"/>
            <a:chExt cx="3556000" cy="498729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3556000" cy="3556000"/>
              <a:chOff x="0" y="0"/>
              <a:chExt cx="3556000" cy="3556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3556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3556000">
                    <a:moveTo>
                      <a:pt x="99786" y="0"/>
                    </a:moveTo>
                    <a:lnTo>
                      <a:pt x="3456214" y="0"/>
                    </a:lnTo>
                    <a:cubicBezTo>
                      <a:pt x="3511324" y="0"/>
                      <a:pt x="3556000" y="44676"/>
                      <a:pt x="3556000" y="99786"/>
                    </a:cubicBezTo>
                    <a:lnTo>
                      <a:pt x="3556000" y="3456214"/>
                    </a:lnTo>
                    <a:cubicBezTo>
                      <a:pt x="3556000" y="3511324"/>
                      <a:pt x="3511324" y="3556000"/>
                      <a:pt x="3456214" y="3556000"/>
                    </a:cubicBezTo>
                    <a:lnTo>
                      <a:pt x="99786" y="3556000"/>
                    </a:lnTo>
                    <a:cubicBezTo>
                      <a:pt x="44676" y="3556000"/>
                      <a:pt x="0" y="3511324"/>
                      <a:pt x="0" y="3456214"/>
                    </a:cubicBezTo>
                    <a:lnTo>
                      <a:pt x="0" y="99786"/>
                    </a:lnTo>
                    <a:cubicBezTo>
                      <a:pt x="0" y="44676"/>
                      <a:pt x="44676" y="0"/>
                      <a:pt x="997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F80ED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3556000" cy="35655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87"/>
                  </a:lnSpc>
                </a:pPr>
                <a:r>
                  <a:rPr lang="en-US" sz="2250" b="true">
                    <a:solidFill>
                      <a:srgbClr val="102A43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Initialize</a:t>
                </a:r>
              </a:p>
              <a:p>
                <a:pPr algn="ctr">
                  <a:lnSpc>
                    <a:spcPts val="2587"/>
                  </a:lnSpc>
                </a:pPr>
                <a:r>
                  <a:rPr lang="en-US" sz="2250" b="true">
                    <a:solidFill>
                      <a:srgbClr val="102A43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distances</a:t>
                </a: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0" y="4181475"/>
              <a:ext cx="3556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65758B"/>
                  </a:solidFill>
                  <a:latin typeface="Aptos"/>
                  <a:ea typeface="Aptos"/>
                  <a:cs typeface="Aptos"/>
                  <a:sym typeface="Aptos"/>
                </a:rPr>
                <a:t>source = 0</a:t>
              </a:r>
            </a:p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65758B"/>
                  </a:solidFill>
                  <a:latin typeface="Aptos"/>
                  <a:ea typeface="Aptos"/>
                  <a:cs typeface="Aptos"/>
                  <a:sym typeface="Aptos"/>
                </a:rPr>
                <a:t>others = ∞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286250" y="3429000"/>
            <a:ext cx="2667000" cy="3740467"/>
            <a:chOff x="0" y="0"/>
            <a:chExt cx="3556000" cy="498729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3556000" cy="3556000"/>
              <a:chOff x="0" y="0"/>
              <a:chExt cx="3556000" cy="3556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556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3556000">
                    <a:moveTo>
                      <a:pt x="99786" y="0"/>
                    </a:moveTo>
                    <a:lnTo>
                      <a:pt x="3456214" y="0"/>
                    </a:lnTo>
                    <a:cubicBezTo>
                      <a:pt x="3511324" y="0"/>
                      <a:pt x="3556000" y="44676"/>
                      <a:pt x="3556000" y="99786"/>
                    </a:cubicBezTo>
                    <a:lnTo>
                      <a:pt x="3556000" y="3456214"/>
                    </a:lnTo>
                    <a:cubicBezTo>
                      <a:pt x="3556000" y="3511324"/>
                      <a:pt x="3511324" y="3556000"/>
                      <a:pt x="3456214" y="3556000"/>
                    </a:cubicBezTo>
                    <a:lnTo>
                      <a:pt x="99786" y="3556000"/>
                    </a:lnTo>
                    <a:cubicBezTo>
                      <a:pt x="44676" y="3556000"/>
                      <a:pt x="0" y="3511324"/>
                      <a:pt x="0" y="3456214"/>
                    </a:cubicBezTo>
                    <a:lnTo>
                      <a:pt x="0" y="99786"/>
                    </a:lnTo>
                    <a:cubicBezTo>
                      <a:pt x="0" y="44676"/>
                      <a:pt x="44676" y="0"/>
                      <a:pt x="997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F80ED"/>
                </a:solidFill>
                <a:prstDash val="solid"/>
                <a:round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9525"/>
                <a:ext cx="3556000" cy="35655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87"/>
                  </a:lnSpc>
                </a:pPr>
                <a:r>
                  <a:rPr lang="en-US" sz="2250" b="true">
                    <a:solidFill>
                      <a:srgbClr val="102A43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Relax</a:t>
                </a:r>
              </a:p>
              <a:p>
                <a:pPr algn="ctr">
                  <a:lnSpc>
                    <a:spcPts val="2587"/>
                  </a:lnSpc>
                </a:pPr>
                <a:r>
                  <a:rPr lang="en-US" sz="2250" b="true">
                    <a:solidFill>
                      <a:srgbClr val="102A43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all edges</a:t>
                </a: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0" y="4181475"/>
              <a:ext cx="3556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65758B"/>
                  </a:solidFill>
                  <a:latin typeface="Aptos"/>
                  <a:ea typeface="Aptos"/>
                  <a:cs typeface="Aptos"/>
                  <a:sym typeface="Aptos"/>
                </a:rPr>
                <a:t>try every</a:t>
              </a:r>
            </a:p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65758B"/>
                  </a:solidFill>
                  <a:latin typeface="Aptos"/>
                  <a:ea typeface="Aptos"/>
                  <a:cs typeface="Aptos"/>
                  <a:sym typeface="Aptos"/>
                </a:rPr>
                <a:t>(u, v, w)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715250" y="3429000"/>
            <a:ext cx="2667000" cy="3740467"/>
            <a:chOff x="0" y="0"/>
            <a:chExt cx="3556000" cy="498729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3556000" cy="3556000"/>
              <a:chOff x="0" y="0"/>
              <a:chExt cx="3556000" cy="3556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556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3556000">
                    <a:moveTo>
                      <a:pt x="99786" y="0"/>
                    </a:moveTo>
                    <a:lnTo>
                      <a:pt x="3456214" y="0"/>
                    </a:lnTo>
                    <a:cubicBezTo>
                      <a:pt x="3511324" y="0"/>
                      <a:pt x="3556000" y="44676"/>
                      <a:pt x="3556000" y="99786"/>
                    </a:cubicBezTo>
                    <a:lnTo>
                      <a:pt x="3556000" y="3456214"/>
                    </a:lnTo>
                    <a:cubicBezTo>
                      <a:pt x="3556000" y="3511324"/>
                      <a:pt x="3511324" y="3556000"/>
                      <a:pt x="3456214" y="3556000"/>
                    </a:cubicBezTo>
                    <a:lnTo>
                      <a:pt x="99786" y="3556000"/>
                    </a:lnTo>
                    <a:cubicBezTo>
                      <a:pt x="44676" y="3556000"/>
                      <a:pt x="0" y="3511324"/>
                      <a:pt x="0" y="3456214"/>
                    </a:cubicBezTo>
                    <a:lnTo>
                      <a:pt x="0" y="99786"/>
                    </a:lnTo>
                    <a:cubicBezTo>
                      <a:pt x="0" y="44676"/>
                      <a:pt x="44676" y="0"/>
                      <a:pt x="99786" y="0"/>
                    </a:cubicBezTo>
                    <a:close/>
                  </a:path>
                </a:pathLst>
              </a:custGeom>
              <a:solidFill>
                <a:srgbClr val="DCEFFF"/>
              </a:solidFill>
              <a:ln w="28575" cap="rnd">
                <a:solidFill>
                  <a:srgbClr val="2F80ED"/>
                </a:solidFill>
                <a:prstDash val="solid"/>
                <a:round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9525"/>
                <a:ext cx="3556000" cy="35655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87"/>
                  </a:lnSpc>
                </a:pPr>
                <a:r>
                  <a:rPr lang="en-US" sz="2250" b="true">
                    <a:solidFill>
                      <a:srgbClr val="102A43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Repeat for</a:t>
                </a:r>
              </a:p>
              <a:p>
                <a:pPr algn="ctr">
                  <a:lnSpc>
                    <a:spcPts val="2587"/>
                  </a:lnSpc>
                </a:pPr>
                <a:r>
                  <a:rPr lang="en-US" sz="2250" b="true">
                    <a:solidFill>
                      <a:srgbClr val="102A43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V−1 passes</a:t>
                </a: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4181475"/>
              <a:ext cx="3556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65758B"/>
                  </a:solidFill>
                  <a:latin typeface="Aptos"/>
                  <a:ea typeface="Aptos"/>
                  <a:cs typeface="Aptos"/>
                  <a:sym typeface="Aptos"/>
                </a:rPr>
                <a:t>at most</a:t>
              </a:r>
            </a:p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65758B"/>
                  </a:solidFill>
                  <a:latin typeface="Aptos"/>
                  <a:ea typeface="Aptos"/>
                  <a:cs typeface="Aptos"/>
                  <a:sym typeface="Aptos"/>
                </a:rPr>
                <a:t>V−1 rounds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144250" y="3429000"/>
            <a:ext cx="2667000" cy="3740467"/>
            <a:chOff x="0" y="0"/>
            <a:chExt cx="3556000" cy="498729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3556000" cy="3556000"/>
              <a:chOff x="0" y="0"/>
              <a:chExt cx="3556000" cy="3556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3556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3556000">
                    <a:moveTo>
                      <a:pt x="99786" y="0"/>
                    </a:moveTo>
                    <a:lnTo>
                      <a:pt x="3456214" y="0"/>
                    </a:lnTo>
                    <a:cubicBezTo>
                      <a:pt x="3511324" y="0"/>
                      <a:pt x="3556000" y="44676"/>
                      <a:pt x="3556000" y="99786"/>
                    </a:cubicBezTo>
                    <a:lnTo>
                      <a:pt x="3556000" y="3456214"/>
                    </a:lnTo>
                    <a:cubicBezTo>
                      <a:pt x="3556000" y="3511324"/>
                      <a:pt x="3511324" y="3556000"/>
                      <a:pt x="3456214" y="3556000"/>
                    </a:cubicBezTo>
                    <a:lnTo>
                      <a:pt x="99786" y="3556000"/>
                    </a:lnTo>
                    <a:cubicBezTo>
                      <a:pt x="44676" y="3556000"/>
                      <a:pt x="0" y="3511324"/>
                      <a:pt x="0" y="3456214"/>
                    </a:cubicBezTo>
                    <a:lnTo>
                      <a:pt x="0" y="99786"/>
                    </a:lnTo>
                    <a:cubicBezTo>
                      <a:pt x="0" y="44676"/>
                      <a:pt x="44676" y="0"/>
                      <a:pt x="99786" y="0"/>
                    </a:cubicBezTo>
                    <a:close/>
                  </a:path>
                </a:pathLst>
              </a:custGeom>
              <a:solidFill>
                <a:srgbClr val="FFF4E8"/>
              </a:solidFill>
              <a:ln w="28575" cap="rnd">
                <a:solidFill>
                  <a:srgbClr val="F28C28"/>
                </a:solidFill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9525"/>
                <a:ext cx="3556000" cy="35655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87"/>
                  </a:lnSpc>
                </a:pPr>
                <a:r>
                  <a:rPr lang="en-US" sz="2250" b="true">
                    <a:solidFill>
                      <a:srgbClr val="102A43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Check negative-</a:t>
                </a:r>
              </a:p>
              <a:p>
                <a:pPr algn="ctr">
                  <a:lnSpc>
                    <a:spcPts val="2587"/>
                  </a:lnSpc>
                </a:pPr>
                <a:r>
                  <a:rPr lang="en-US" sz="2250" b="true">
                    <a:solidFill>
                      <a:srgbClr val="102A43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weight cycle</a:t>
                </a: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0" y="4181475"/>
              <a:ext cx="3556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65758B"/>
                  </a:solidFill>
                  <a:latin typeface="Aptos"/>
                  <a:ea typeface="Aptos"/>
                  <a:cs typeface="Aptos"/>
                  <a:sym typeface="Aptos"/>
                </a:rPr>
                <a:t>one extra</a:t>
              </a:r>
            </a:p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65758B"/>
                  </a:solidFill>
                  <a:latin typeface="Aptos"/>
                  <a:ea typeface="Aptos"/>
                  <a:cs typeface="Aptos"/>
                  <a:sym typeface="Aptos"/>
                </a:rPr>
                <a:t>edge scan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573250" y="3429000"/>
            <a:ext cx="2667000" cy="3740467"/>
            <a:chOff x="0" y="0"/>
            <a:chExt cx="3556000" cy="498729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3556000" cy="3556000"/>
              <a:chOff x="0" y="0"/>
              <a:chExt cx="3556000" cy="35560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35560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3556000">
                    <a:moveTo>
                      <a:pt x="99786" y="0"/>
                    </a:moveTo>
                    <a:lnTo>
                      <a:pt x="3456214" y="0"/>
                    </a:lnTo>
                    <a:cubicBezTo>
                      <a:pt x="3511324" y="0"/>
                      <a:pt x="3556000" y="44676"/>
                      <a:pt x="3556000" y="99786"/>
                    </a:cubicBezTo>
                    <a:lnTo>
                      <a:pt x="3556000" y="3456214"/>
                    </a:lnTo>
                    <a:cubicBezTo>
                      <a:pt x="3556000" y="3511324"/>
                      <a:pt x="3511324" y="3556000"/>
                      <a:pt x="3456214" y="3556000"/>
                    </a:cubicBezTo>
                    <a:lnTo>
                      <a:pt x="99786" y="3556000"/>
                    </a:lnTo>
                    <a:cubicBezTo>
                      <a:pt x="44676" y="3556000"/>
                      <a:pt x="0" y="3511324"/>
                      <a:pt x="0" y="3456214"/>
                    </a:cubicBezTo>
                    <a:lnTo>
                      <a:pt x="0" y="99786"/>
                    </a:lnTo>
                    <a:cubicBezTo>
                      <a:pt x="0" y="44676"/>
                      <a:pt x="44676" y="0"/>
                      <a:pt x="997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28575" cap="rnd">
                <a:solidFill>
                  <a:srgbClr val="2F80ED"/>
                </a:solidFill>
                <a:prstDash val="solid"/>
                <a:round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9525"/>
                <a:ext cx="3556000" cy="35655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87"/>
                  </a:lnSpc>
                </a:pPr>
                <a:r>
                  <a:rPr lang="en-US" sz="2250" b="true">
                    <a:solidFill>
                      <a:srgbClr val="102A43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Display</a:t>
                </a:r>
              </a:p>
              <a:p>
                <a:pPr algn="ctr">
                  <a:lnSpc>
                    <a:spcPts val="2587"/>
                  </a:lnSpc>
                </a:pPr>
                <a:r>
                  <a:rPr lang="en-US" sz="2250" b="true">
                    <a:solidFill>
                      <a:srgbClr val="102A43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results</a:t>
                </a: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0" y="4181475"/>
              <a:ext cx="3556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65758B"/>
                  </a:solidFill>
                  <a:latin typeface="Aptos"/>
                  <a:ea typeface="Aptos"/>
                  <a:cs typeface="Aptos"/>
                  <a:sym typeface="Aptos"/>
                </a:rPr>
                <a:t>distances +</a:t>
              </a:r>
            </a:p>
            <a:p>
              <a:pPr algn="ctr">
                <a:lnSpc>
                  <a:spcPts val="2437"/>
                </a:lnSpc>
              </a:pPr>
              <a:r>
                <a:rPr lang="en-US" sz="1950">
                  <a:solidFill>
                    <a:srgbClr val="65758B"/>
                  </a:solidFill>
                  <a:latin typeface="Aptos"/>
                  <a:ea typeface="Aptos"/>
                  <a:cs typeface="Aptos"/>
                  <a:sym typeface="Aptos"/>
                </a:rPr>
                <a:t>parents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95325"/>
            <a:ext cx="142875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Example Graph for Dry Run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400175"/>
            <a:ext cx="1476375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65758B"/>
                </a:solidFill>
                <a:latin typeface="Aptos"/>
                <a:ea typeface="Aptos"/>
                <a:cs typeface="Aptos"/>
                <a:sym typeface="Aptos"/>
              </a:rPr>
              <a:t>Source vertex: S  •  Negative weights are shown in orange.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2152650" y="3105150"/>
            <a:ext cx="4476750" cy="2095500"/>
          </a:xfrm>
          <a:prstGeom prst="line">
            <a:avLst/>
          </a:prstGeom>
          <a:ln cap="rnd" w="28575">
            <a:solidFill>
              <a:srgbClr val="102A4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" id="5"/>
          <p:cNvSpPr/>
          <p:nvPr/>
        </p:nvSpPr>
        <p:spPr>
          <a:xfrm>
            <a:off x="2152650" y="5200650"/>
            <a:ext cx="4476750" cy="2286000"/>
          </a:xfrm>
          <a:prstGeom prst="line">
            <a:avLst/>
          </a:prstGeom>
          <a:ln cap="rnd" w="28575">
            <a:solidFill>
              <a:srgbClr val="102A4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" id="6"/>
          <p:cNvSpPr/>
          <p:nvPr/>
        </p:nvSpPr>
        <p:spPr>
          <a:xfrm>
            <a:off x="6629400" y="3105150"/>
            <a:ext cx="0" cy="4381500"/>
          </a:xfrm>
          <a:prstGeom prst="line">
            <a:avLst/>
          </a:prstGeom>
          <a:ln cap="rnd" w="28575">
            <a:solidFill>
              <a:srgbClr val="102A4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" id="7"/>
          <p:cNvSpPr/>
          <p:nvPr/>
        </p:nvSpPr>
        <p:spPr>
          <a:xfrm>
            <a:off x="6629400" y="3105150"/>
            <a:ext cx="5238750" cy="4000500"/>
          </a:xfrm>
          <a:prstGeom prst="line">
            <a:avLst/>
          </a:prstGeom>
          <a:ln cap="rnd" w="28575">
            <a:solidFill>
              <a:srgbClr val="102A4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8" id="8"/>
          <p:cNvSpPr/>
          <p:nvPr/>
        </p:nvSpPr>
        <p:spPr>
          <a:xfrm>
            <a:off x="6629400" y="3105150"/>
            <a:ext cx="7429500" cy="190500"/>
          </a:xfrm>
          <a:prstGeom prst="line">
            <a:avLst/>
          </a:prstGeom>
          <a:ln cap="rnd" w="57150">
            <a:solidFill>
              <a:srgbClr val="F28C2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" id="9"/>
          <p:cNvSpPr/>
          <p:nvPr/>
        </p:nvSpPr>
        <p:spPr>
          <a:xfrm flipV="true">
            <a:off x="6629400" y="7105650"/>
            <a:ext cx="5238750" cy="381000"/>
          </a:xfrm>
          <a:prstGeom prst="line">
            <a:avLst/>
          </a:prstGeom>
          <a:ln cap="rnd" w="57150">
            <a:solidFill>
              <a:srgbClr val="F28C2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" id="10"/>
          <p:cNvSpPr/>
          <p:nvPr/>
        </p:nvSpPr>
        <p:spPr>
          <a:xfrm flipV="true">
            <a:off x="6629400" y="3295650"/>
            <a:ext cx="7429500" cy="4191000"/>
          </a:xfrm>
          <a:prstGeom prst="line">
            <a:avLst/>
          </a:prstGeom>
          <a:ln cap="rnd" w="28575">
            <a:solidFill>
              <a:srgbClr val="102A4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6629400" y="3105150"/>
            <a:ext cx="5238750" cy="4000500"/>
          </a:xfrm>
          <a:prstGeom prst="line">
            <a:avLst/>
          </a:prstGeom>
          <a:ln cap="rnd" w="57150">
            <a:solidFill>
              <a:srgbClr val="F28C2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2" id="12"/>
          <p:cNvSpPr/>
          <p:nvPr/>
        </p:nvSpPr>
        <p:spPr>
          <a:xfrm flipH="true">
            <a:off x="2152650" y="3295650"/>
            <a:ext cx="11906250" cy="1905000"/>
          </a:xfrm>
          <a:prstGeom prst="line">
            <a:avLst/>
          </a:prstGeom>
          <a:ln cap="rnd" w="28575">
            <a:solidFill>
              <a:srgbClr val="102A43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3" id="13"/>
          <p:cNvSpPr/>
          <p:nvPr/>
        </p:nvSpPr>
        <p:spPr>
          <a:xfrm flipH="true">
            <a:off x="11868150" y="3295650"/>
            <a:ext cx="2190750" cy="3810000"/>
          </a:xfrm>
          <a:prstGeom prst="line">
            <a:avLst/>
          </a:prstGeom>
          <a:ln cap="rnd" w="28575">
            <a:solidFill>
              <a:srgbClr val="102A43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4" id="14"/>
          <p:cNvGrpSpPr/>
          <p:nvPr/>
        </p:nvGrpSpPr>
        <p:grpSpPr>
          <a:xfrm rot="0">
            <a:off x="1714500" y="4762500"/>
            <a:ext cx="876300" cy="876300"/>
            <a:chOff x="0" y="0"/>
            <a:chExt cx="1168400" cy="1168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DCE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191250" y="2667000"/>
            <a:ext cx="876300" cy="876300"/>
            <a:chOff x="0" y="0"/>
            <a:chExt cx="1168400" cy="1168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191250" y="7048500"/>
            <a:ext cx="876300" cy="876300"/>
            <a:chOff x="0" y="0"/>
            <a:chExt cx="1168400" cy="1168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430000" y="6667500"/>
            <a:ext cx="876300" cy="876300"/>
            <a:chOff x="0" y="0"/>
            <a:chExt cx="1168400" cy="1168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620750" y="2857500"/>
            <a:ext cx="876300" cy="876300"/>
            <a:chOff x="0" y="0"/>
            <a:chExt cx="1168400" cy="1168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191000" y="3438525"/>
            <a:ext cx="666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02A43"/>
                </a:solidFill>
                <a:latin typeface="Aptos Bold"/>
                <a:ea typeface="Aptos Bold"/>
                <a:cs typeface="Aptos Bold"/>
                <a:sym typeface="Aptos Bold"/>
              </a:rPr>
              <a:t>6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191000" y="5629275"/>
            <a:ext cx="666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02A43"/>
                </a:solidFill>
                <a:latin typeface="Aptos Bold"/>
                <a:ea typeface="Aptos Bold"/>
                <a:cs typeface="Aptos Bold"/>
                <a:sym typeface="Aptos Bold"/>
              </a:rPr>
              <a:t>7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429375" y="4581525"/>
            <a:ext cx="666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02A43"/>
                </a:solidFill>
                <a:latin typeface="Aptos Bold"/>
                <a:ea typeface="Aptos Bold"/>
                <a:cs typeface="Aptos Bold"/>
                <a:sym typeface="Aptos Bold"/>
              </a:rPr>
              <a:t>8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048750" y="4391025"/>
            <a:ext cx="666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02A43"/>
                </a:solidFill>
                <a:latin typeface="Aptos Bold"/>
                <a:ea typeface="Aptos Bold"/>
                <a:cs typeface="Aptos Bold"/>
                <a:sym typeface="Aptos Bold"/>
              </a:rPr>
              <a:t>5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144125" y="2486025"/>
            <a:ext cx="666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F28C28"/>
                </a:solidFill>
                <a:latin typeface="Aptos Bold"/>
                <a:ea typeface="Aptos Bold"/>
                <a:cs typeface="Aptos Bold"/>
                <a:sym typeface="Aptos Bold"/>
              </a:rPr>
              <a:t>-4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048750" y="6581775"/>
            <a:ext cx="666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F28C28"/>
                </a:solidFill>
                <a:latin typeface="Aptos Bold"/>
                <a:ea typeface="Aptos Bold"/>
                <a:cs typeface="Aptos Bold"/>
                <a:sym typeface="Aptos Bold"/>
              </a:rPr>
              <a:t>-3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144125" y="4676775"/>
            <a:ext cx="666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02A43"/>
                </a:solidFill>
                <a:latin typeface="Aptos Bold"/>
                <a:ea typeface="Aptos Bold"/>
                <a:cs typeface="Aptos Bold"/>
                <a:sym typeface="Aptos Bold"/>
              </a:rPr>
              <a:t>9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048750" y="4391025"/>
            <a:ext cx="666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F28C28"/>
                </a:solidFill>
                <a:latin typeface="Aptos Bold"/>
                <a:ea typeface="Aptos Bold"/>
                <a:cs typeface="Aptos Bold"/>
                <a:sym typeface="Aptos Bold"/>
              </a:rPr>
              <a:t>-2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905750" y="3533775"/>
            <a:ext cx="666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02A43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763500" y="4486275"/>
            <a:ext cx="666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102A43"/>
                </a:solidFill>
                <a:latin typeface="Aptos Bold"/>
                <a:ea typeface="Aptos Bold"/>
                <a:cs typeface="Aptos Bold"/>
                <a:sym typeface="Aptos Bold"/>
              </a:rPr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95325"/>
            <a:ext cx="142875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Initialization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400175"/>
            <a:ext cx="1476375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65758B"/>
                </a:solidFill>
                <a:latin typeface="Aptos"/>
                <a:ea typeface="Aptos"/>
                <a:cs typeface="Aptos"/>
                <a:sym typeface="Aptos"/>
              </a:rPr>
              <a:t>S is the source with distance 0; every other vertex starts at infinity.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4095750" y="2190750"/>
            <a:ext cx="10096500" cy="6400800"/>
            <a:chOff x="0" y="0"/>
            <a:chExt cx="13462000" cy="8534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20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13462000">
                  <a:moveTo>
                    <a:pt x="0" y="0"/>
                  </a:moveTo>
                  <a:lnTo>
                    <a:pt x="13462000" y="0"/>
                  </a:lnTo>
                  <a:lnTo>
                    <a:pt x="1346200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8E6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462000" cy="8572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286250" y="3286125"/>
            <a:ext cx="9715500" cy="1066800"/>
            <a:chOff x="0" y="0"/>
            <a:chExt cx="12954000" cy="1422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54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2954000">
                  <a:moveTo>
                    <a:pt x="0" y="0"/>
                  </a:moveTo>
                  <a:lnTo>
                    <a:pt x="12954000" y="0"/>
                  </a:lnTo>
                  <a:lnTo>
                    <a:pt x="12954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7F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954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286250" y="5419725"/>
            <a:ext cx="9715500" cy="1066800"/>
            <a:chOff x="0" y="0"/>
            <a:chExt cx="12954000" cy="1422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54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2954000">
                  <a:moveTo>
                    <a:pt x="0" y="0"/>
                  </a:moveTo>
                  <a:lnTo>
                    <a:pt x="12954000" y="0"/>
                  </a:lnTo>
                  <a:lnTo>
                    <a:pt x="12954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7F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2954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286250" y="7553325"/>
            <a:ext cx="9715500" cy="1066800"/>
            <a:chOff x="0" y="0"/>
            <a:chExt cx="12954000" cy="1422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954000" cy="1422400"/>
            </a:xfrm>
            <a:custGeom>
              <a:avLst/>
              <a:gdLst/>
              <a:ahLst/>
              <a:cxnLst/>
              <a:rect r="r" b="b" t="t" l="l"/>
              <a:pathLst>
                <a:path h="1422400" w="12954000">
                  <a:moveTo>
                    <a:pt x="0" y="0"/>
                  </a:moveTo>
                  <a:lnTo>
                    <a:pt x="12954000" y="0"/>
                  </a:lnTo>
                  <a:lnTo>
                    <a:pt x="12954000" y="1422400"/>
                  </a:lnTo>
                  <a:lnTo>
                    <a:pt x="0" y="1422400"/>
                  </a:lnTo>
                  <a:close/>
                </a:path>
              </a:pathLst>
            </a:custGeom>
            <a:solidFill>
              <a:srgbClr val="F7FB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954000" cy="1460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762500" y="2486025"/>
            <a:ext cx="28575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65758B"/>
                </a:solidFill>
                <a:latin typeface="Aptos Bold"/>
                <a:ea typeface="Aptos Bold"/>
                <a:cs typeface="Aptos Bold"/>
                <a:sym typeface="Aptos Bold"/>
              </a:rPr>
              <a:t>VERTEX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10750" y="2486025"/>
            <a:ext cx="36195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65758B"/>
                </a:solidFill>
                <a:latin typeface="Aptos Bold"/>
                <a:ea typeface="Aptos Bold"/>
                <a:cs typeface="Aptos Bold"/>
                <a:sym typeface="Aptos Bold"/>
              </a:rPr>
              <a:t>INITIAL DISTANCE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62500" y="3533775"/>
            <a:ext cx="2857500" cy="37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55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10750" y="3467100"/>
            <a:ext cx="2857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2F80ED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0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62500" y="4600575"/>
            <a:ext cx="2857500" cy="37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55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10750" y="4533900"/>
            <a:ext cx="2857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65758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∞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62500" y="5667375"/>
            <a:ext cx="2857500" cy="37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55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10750" y="5600700"/>
            <a:ext cx="2857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65758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∞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762500" y="6734175"/>
            <a:ext cx="2857500" cy="37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55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810750" y="6667500"/>
            <a:ext cx="2857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65758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∞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762500" y="7800975"/>
            <a:ext cx="2857500" cy="37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7"/>
              </a:lnSpc>
            </a:pPr>
            <a:r>
              <a:rPr lang="en-US" sz="255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10750" y="7734300"/>
            <a:ext cx="2857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50" b="true">
                <a:solidFill>
                  <a:srgbClr val="65758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∞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95325"/>
            <a:ext cx="142875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Step-by-Step Dry Run: Pass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400175"/>
            <a:ext cx="1476375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65758B"/>
                </a:solidFill>
                <a:latin typeface="Aptos"/>
                <a:ea typeface="Aptos"/>
                <a:cs typeface="Aptos"/>
                <a:sym typeface="Aptos"/>
              </a:rPr>
              <a:t>Edges are relaxed in the listed order.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52500" y="2781300"/>
            <a:ext cx="16383000" cy="552450"/>
            <a:chOff x="0" y="0"/>
            <a:chExt cx="21844000" cy="736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844000" cy="736600"/>
            </a:xfrm>
            <a:custGeom>
              <a:avLst/>
              <a:gdLst/>
              <a:ahLst/>
              <a:cxnLst/>
              <a:rect r="r" b="b" t="t" l="l"/>
              <a:pathLst>
                <a:path h="7366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E8F4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8440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2500" y="3409950"/>
            <a:ext cx="16383000" cy="552450"/>
            <a:chOff x="0" y="0"/>
            <a:chExt cx="21844000" cy="736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844000" cy="736600"/>
            </a:xfrm>
            <a:custGeom>
              <a:avLst/>
              <a:gdLst/>
              <a:ahLst/>
              <a:cxnLst/>
              <a:rect r="r" b="b" t="t" l="l"/>
              <a:pathLst>
                <a:path h="7366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E8F4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8440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52500" y="4038600"/>
            <a:ext cx="16383000" cy="552450"/>
            <a:chOff x="0" y="0"/>
            <a:chExt cx="21844000" cy="736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844000" cy="736600"/>
            </a:xfrm>
            <a:custGeom>
              <a:avLst/>
              <a:gdLst/>
              <a:ahLst/>
              <a:cxnLst/>
              <a:rect r="r" b="b" t="t" l="l"/>
              <a:pathLst>
                <a:path h="7366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F2F4F6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8440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52500" y="4667250"/>
            <a:ext cx="16383000" cy="552450"/>
            <a:chOff x="0" y="0"/>
            <a:chExt cx="21844000" cy="736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844000" cy="736600"/>
            </a:xfrm>
            <a:custGeom>
              <a:avLst/>
              <a:gdLst/>
              <a:ahLst/>
              <a:cxnLst/>
              <a:rect r="r" b="b" t="t" l="l"/>
              <a:pathLst>
                <a:path h="7366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E8F4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8440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" y="5295900"/>
            <a:ext cx="16383000" cy="552450"/>
            <a:chOff x="0" y="0"/>
            <a:chExt cx="21844000" cy="736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844000" cy="736600"/>
            </a:xfrm>
            <a:custGeom>
              <a:avLst/>
              <a:gdLst/>
              <a:ahLst/>
              <a:cxnLst/>
              <a:rect r="r" b="b" t="t" l="l"/>
              <a:pathLst>
                <a:path h="7366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E8F4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8440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2500" y="5924550"/>
            <a:ext cx="16383000" cy="552450"/>
            <a:chOff x="0" y="0"/>
            <a:chExt cx="21844000" cy="736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844000" cy="736600"/>
            </a:xfrm>
            <a:custGeom>
              <a:avLst/>
              <a:gdLst/>
              <a:ahLst/>
              <a:cxnLst/>
              <a:rect r="r" b="b" t="t" l="l"/>
              <a:pathLst>
                <a:path h="7366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E8F4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18440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2500" y="6553200"/>
            <a:ext cx="16383000" cy="552450"/>
            <a:chOff x="0" y="0"/>
            <a:chExt cx="21844000" cy="736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844000" cy="736600"/>
            </a:xfrm>
            <a:custGeom>
              <a:avLst/>
              <a:gdLst/>
              <a:ahLst/>
              <a:cxnLst/>
              <a:rect r="r" b="b" t="t" l="l"/>
              <a:pathLst>
                <a:path h="7366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F2F4F6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18440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52500" y="7181850"/>
            <a:ext cx="16383000" cy="552450"/>
            <a:chOff x="0" y="0"/>
            <a:chExt cx="21844000" cy="736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844000" cy="736600"/>
            </a:xfrm>
            <a:custGeom>
              <a:avLst/>
              <a:gdLst/>
              <a:ahLst/>
              <a:cxnLst/>
              <a:rect r="r" b="b" t="t" l="l"/>
              <a:pathLst>
                <a:path h="7366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E8F4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8440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2500" y="7810500"/>
            <a:ext cx="16383000" cy="552450"/>
            <a:chOff x="0" y="0"/>
            <a:chExt cx="21844000" cy="736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844000" cy="736600"/>
            </a:xfrm>
            <a:custGeom>
              <a:avLst/>
              <a:gdLst/>
              <a:ahLst/>
              <a:cxnLst/>
              <a:rect r="r" b="b" t="t" l="l"/>
              <a:pathLst>
                <a:path h="7366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F2F4F6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18440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52500" y="8439150"/>
            <a:ext cx="16383000" cy="552450"/>
            <a:chOff x="0" y="0"/>
            <a:chExt cx="21844000" cy="736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844000" cy="736600"/>
            </a:xfrm>
            <a:custGeom>
              <a:avLst/>
              <a:gdLst/>
              <a:ahLst/>
              <a:cxnLst/>
              <a:rect r="r" b="b" t="t" l="l"/>
              <a:pathLst>
                <a:path h="7366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F2F4F6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18440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238250" y="2247900"/>
            <a:ext cx="24765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65758B"/>
                </a:solidFill>
                <a:latin typeface="Aptos Bold"/>
                <a:ea typeface="Aptos Bold"/>
                <a:cs typeface="Aptos Bold"/>
                <a:sym typeface="Aptos Bold"/>
              </a:rPr>
              <a:t>EDGE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238750" y="2247900"/>
            <a:ext cx="4572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65758B"/>
                </a:solidFill>
                <a:latin typeface="Aptos Bold"/>
                <a:ea typeface="Aptos Bold"/>
                <a:cs typeface="Aptos Bold"/>
                <a:sym typeface="Aptos Bold"/>
              </a:rPr>
              <a:t>CALCULATION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334750" y="2247900"/>
            <a:ext cx="5238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65758B"/>
                </a:solidFill>
                <a:latin typeface="Aptos Bold"/>
                <a:ea typeface="Aptos Bold"/>
                <a:cs typeface="Aptos Bold"/>
                <a:sym typeface="Aptos Bold"/>
              </a:rPr>
              <a:t>RESULT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38250" y="283845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S → 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238750" y="2809875"/>
            <a:ext cx="4762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0 + 6 = 6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334750" y="2819400"/>
            <a:ext cx="5238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2F80ED"/>
                </a:solidFill>
                <a:latin typeface="Aptos Bold"/>
                <a:ea typeface="Aptos Bold"/>
                <a:cs typeface="Aptos Bold"/>
                <a:sym typeface="Aptos Bold"/>
              </a:rPr>
              <a:t>Update A = 6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8250" y="346710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S → B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238750" y="3438525"/>
            <a:ext cx="4762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0 + 7 = 7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334750" y="3448050"/>
            <a:ext cx="5238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2F80ED"/>
                </a:solidFill>
                <a:latin typeface="Aptos Bold"/>
                <a:ea typeface="Aptos Bold"/>
                <a:cs typeface="Aptos Bold"/>
                <a:sym typeface="Aptos Bold"/>
              </a:rPr>
              <a:t>Update B = 7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38250" y="409575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A → B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238750" y="4067175"/>
            <a:ext cx="4762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6 + 8 = 14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334750" y="4076700"/>
            <a:ext cx="5238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5758B"/>
                </a:solidFill>
                <a:latin typeface="Aptos"/>
                <a:ea typeface="Aptos"/>
                <a:cs typeface="Aptos"/>
                <a:sym typeface="Aptos"/>
              </a:rPr>
              <a:t>No update (B=7)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38250" y="472440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A → C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238750" y="4695825"/>
            <a:ext cx="4762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6 + 5 = 11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334750" y="4705350"/>
            <a:ext cx="5238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2F80ED"/>
                </a:solidFill>
                <a:latin typeface="Aptos Bold"/>
                <a:ea typeface="Aptos Bold"/>
                <a:cs typeface="Aptos Bold"/>
                <a:sym typeface="Aptos Bold"/>
              </a:rPr>
              <a:t>Update C = 11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238250" y="535305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A → 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238750" y="5324475"/>
            <a:ext cx="4762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6 + (−4) = 2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334750" y="5334000"/>
            <a:ext cx="5238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2F80ED"/>
                </a:solidFill>
                <a:latin typeface="Aptos Bold"/>
                <a:ea typeface="Aptos Bold"/>
                <a:cs typeface="Aptos Bold"/>
                <a:sym typeface="Aptos Bold"/>
              </a:rPr>
              <a:t>Update D = 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38250" y="598170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B → C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238750" y="5953125"/>
            <a:ext cx="4762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7 + (−3) = 4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334750" y="5962650"/>
            <a:ext cx="5238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2F80ED"/>
                </a:solidFill>
                <a:latin typeface="Aptos Bold"/>
                <a:ea typeface="Aptos Bold"/>
                <a:cs typeface="Aptos Bold"/>
                <a:sym typeface="Aptos Bold"/>
              </a:rPr>
              <a:t>Update C = 4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38250" y="661035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B → D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238750" y="6581775"/>
            <a:ext cx="4762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7 + 9 = 16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334750" y="6591300"/>
            <a:ext cx="5238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5758B"/>
                </a:solidFill>
                <a:latin typeface="Aptos"/>
                <a:ea typeface="Aptos"/>
                <a:cs typeface="Aptos"/>
                <a:sym typeface="Aptos"/>
              </a:rPr>
              <a:t>No update (D=2)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38250" y="723900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C → A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38750" y="7210425"/>
            <a:ext cx="4762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4 + (−2) = 2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334750" y="7219950"/>
            <a:ext cx="5238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2F80ED"/>
                </a:solidFill>
                <a:latin typeface="Aptos Bold"/>
                <a:ea typeface="Aptos Bold"/>
                <a:cs typeface="Aptos Bold"/>
                <a:sym typeface="Aptos Bold"/>
              </a:rPr>
              <a:t>Update A = 2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38250" y="786765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D → 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238750" y="7839075"/>
            <a:ext cx="4762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2 + 2 = 4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334750" y="7848600"/>
            <a:ext cx="5238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5758B"/>
                </a:solidFill>
                <a:latin typeface="Aptos"/>
                <a:ea typeface="Aptos"/>
                <a:cs typeface="Aptos"/>
                <a:sym typeface="Aptos"/>
              </a:rPr>
              <a:t>No update (S=0)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38250" y="8496300"/>
            <a:ext cx="2857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D → C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5238750" y="8467725"/>
            <a:ext cx="4762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102A43"/>
                </a:solidFill>
                <a:latin typeface="Courier New"/>
                <a:ea typeface="Courier New"/>
                <a:cs typeface="Courier New"/>
                <a:sym typeface="Courier New"/>
              </a:rPr>
              <a:t>2 + 7 = 9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334750" y="8477250"/>
            <a:ext cx="5238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>
                <a:solidFill>
                  <a:srgbClr val="65758B"/>
                </a:solidFill>
                <a:latin typeface="Aptos"/>
                <a:ea typeface="Aptos"/>
                <a:cs typeface="Aptos"/>
                <a:sym typeface="Aptos"/>
              </a:rPr>
              <a:t>No update (C=4)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95325"/>
            <a:ext cx="142875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Remaining Passes (2–4)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400175"/>
            <a:ext cx="1476375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65758B"/>
                </a:solidFill>
                <a:latin typeface="Aptos"/>
                <a:ea typeface="Aptos"/>
                <a:cs typeface="Aptos"/>
                <a:sym typeface="Aptos"/>
              </a:rPr>
              <a:t>Shorter paths propagate until no distance changes.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2571750"/>
            <a:ext cx="4953000" cy="4762500"/>
            <a:chOff x="0" y="0"/>
            <a:chExt cx="6604000" cy="6350000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6350000" cy="6350000"/>
              <a:chOff x="0" y="0"/>
              <a:chExt cx="6350000" cy="63500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7FBFF"/>
              </a:solidFill>
              <a:ln w="19050" cap="sq">
                <a:solidFill>
                  <a:srgbClr val="CBD8E6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6350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508000" y="517525"/>
              <a:ext cx="6096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PASS 2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508000" y="1730375"/>
              <a:ext cx="6096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6575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     A     B     C     D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508000" y="2673350"/>
              <a:ext cx="6096000" cy="524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2F80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     2     7     4    −2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08000" y="4425950"/>
              <a:ext cx="6096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102A43"/>
                  </a:solidFill>
                  <a:latin typeface="Aptos"/>
                  <a:ea typeface="Aptos"/>
                  <a:cs typeface="Aptos"/>
                  <a:sym typeface="Aptos"/>
                </a:rPr>
                <a:t>D improves through A → 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858000" y="2571750"/>
            <a:ext cx="4953000" cy="4762500"/>
            <a:chOff x="0" y="0"/>
            <a:chExt cx="6604000" cy="6350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350000" cy="6350000"/>
              <a:chOff x="0" y="0"/>
              <a:chExt cx="6350000" cy="6350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DCEFFF"/>
              </a:solidFill>
              <a:ln w="19050" cap="sq">
                <a:solidFill>
                  <a:srgbClr val="2F80ED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6350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517525"/>
              <a:ext cx="6096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PASS 3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08000" y="1730375"/>
              <a:ext cx="6096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6575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     A     B     C     D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508000" y="2673350"/>
              <a:ext cx="6096000" cy="524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02A4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     2     7     4    −2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08000" y="4425950"/>
              <a:ext cx="6096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102A43"/>
                  </a:solidFill>
                  <a:latin typeface="Aptos"/>
                  <a:ea typeface="Aptos"/>
                  <a:cs typeface="Aptos"/>
                  <a:sym typeface="Aptos"/>
                </a:rPr>
                <a:t>No updates — converged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668250" y="2571750"/>
            <a:ext cx="4953000" cy="4762500"/>
            <a:chOff x="0" y="0"/>
            <a:chExt cx="6604000" cy="6350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6350000" cy="6350000"/>
              <a:chOff x="0" y="0"/>
              <a:chExt cx="6350000" cy="6350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0" y="0"/>
                    </a:moveTo>
                    <a:lnTo>
                      <a:pt x="6350000" y="0"/>
                    </a:lnTo>
                    <a:lnTo>
                      <a:pt x="6350000" y="6350000"/>
                    </a:lnTo>
                    <a:lnTo>
                      <a:pt x="0" y="6350000"/>
                    </a:lnTo>
                    <a:close/>
                  </a:path>
                </a:pathLst>
              </a:custGeom>
              <a:solidFill>
                <a:srgbClr val="F7FBFF"/>
              </a:solidFill>
              <a:ln w="19050" cap="sq">
                <a:solidFill>
                  <a:srgbClr val="CBD8E6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6350000" cy="638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508000" y="517525"/>
              <a:ext cx="6096000" cy="441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62"/>
                </a:lnSpc>
              </a:pPr>
              <a:r>
                <a:rPr lang="en-US" sz="225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PASS 4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508000" y="1730375"/>
              <a:ext cx="6096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US" sz="1875">
                  <a:solidFill>
                    <a:srgbClr val="65758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     A     B     C     D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508000" y="2673350"/>
              <a:ext cx="6096000" cy="5245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02A43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0     2     7     4    −2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508000" y="4425950"/>
              <a:ext cx="6096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102A43"/>
                  </a:solidFill>
                  <a:latin typeface="Aptos"/>
                  <a:ea typeface="Aptos"/>
                  <a:cs typeface="Aptos"/>
                  <a:sym typeface="Aptos"/>
                </a:rPr>
                <a:t>Not needed with early stopping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619500" y="8248650"/>
            <a:ext cx="11049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F28C28"/>
                </a:solidFill>
                <a:latin typeface="Aptos Bold"/>
                <a:ea typeface="Aptos Bold"/>
                <a:cs typeface="Aptos Bold"/>
                <a:sym typeface="Aptos Bold"/>
              </a:rPr>
              <a:t>With the given edge order, the algorithm can stop after Pass 3.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95325"/>
            <a:ext cx="142875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Final Shortest Paths and Distances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400175"/>
            <a:ext cx="1476375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65758B"/>
                </a:solidFill>
                <a:latin typeface="Aptos"/>
                <a:ea typeface="Aptos"/>
                <a:cs typeface="Aptos"/>
                <a:sym typeface="Aptos"/>
              </a:rPr>
              <a:t>The shortest-path tree is highlighted in blue. Correct final distance to D is −2.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762000" y="2333625"/>
            <a:ext cx="8096250" cy="6667500"/>
            <a:chOff x="0" y="0"/>
            <a:chExt cx="10795000" cy="889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95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10795000">
                  <a:moveTo>
                    <a:pt x="0" y="0"/>
                  </a:moveTo>
                  <a:lnTo>
                    <a:pt x="10795000" y="0"/>
                  </a:lnTo>
                  <a:lnTo>
                    <a:pt x="107950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CBD8E6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7950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47750" y="2724150"/>
            <a:ext cx="7239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65758B"/>
                </a:solidFill>
                <a:latin typeface="Aptos Bold"/>
                <a:ea typeface="Aptos Bold"/>
                <a:cs typeface="Aptos Bold"/>
                <a:sym typeface="Aptos Bold"/>
              </a:rPr>
              <a:t>VERTEX      DISTANCE      PREDECESSOR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47750" y="3467100"/>
            <a:ext cx="723900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02A4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                 0                 –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4467225"/>
            <a:ext cx="723900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02A4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                 2                 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7750" y="5467350"/>
            <a:ext cx="723900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02A4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B                 7                 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7750" y="6467475"/>
            <a:ext cx="723900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102A4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                 4                 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" y="7467600"/>
            <a:ext cx="7239000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5" b="true">
                <a:solidFill>
                  <a:srgbClr val="F28C2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D                 −2                 A</a:t>
            </a:r>
          </a:p>
        </p:txBody>
      </p:sp>
      <p:sp>
        <p:nvSpPr>
          <p:cNvPr name="AutoShape 13" id="13"/>
          <p:cNvSpPr/>
          <p:nvPr/>
        </p:nvSpPr>
        <p:spPr>
          <a:xfrm flipV="true">
            <a:off x="10763250" y="3286125"/>
            <a:ext cx="1809750" cy="1476375"/>
          </a:xfrm>
          <a:prstGeom prst="line">
            <a:avLst/>
          </a:prstGeom>
          <a:ln cap="rnd" w="8572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4" id="14"/>
          <p:cNvSpPr/>
          <p:nvPr/>
        </p:nvSpPr>
        <p:spPr>
          <a:xfrm>
            <a:off x="13430250" y="3286125"/>
            <a:ext cx="1619250" cy="1381125"/>
          </a:xfrm>
          <a:prstGeom prst="line">
            <a:avLst/>
          </a:prstGeom>
          <a:ln cap="rnd" w="8572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 flipH="true">
            <a:off x="13430250" y="5143500"/>
            <a:ext cx="1619250" cy="1524000"/>
          </a:xfrm>
          <a:prstGeom prst="line">
            <a:avLst/>
          </a:prstGeom>
          <a:ln cap="rnd" w="8572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" id="16"/>
          <p:cNvSpPr/>
          <p:nvPr/>
        </p:nvSpPr>
        <p:spPr>
          <a:xfrm>
            <a:off x="13430250" y="7000875"/>
            <a:ext cx="1619250" cy="523875"/>
          </a:xfrm>
          <a:prstGeom prst="line">
            <a:avLst/>
          </a:prstGeom>
          <a:ln cap="rnd" w="8572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7" id="17"/>
          <p:cNvGrpSpPr/>
          <p:nvPr/>
        </p:nvGrpSpPr>
        <p:grpSpPr>
          <a:xfrm rot="0">
            <a:off x="9906000" y="4476750"/>
            <a:ext cx="876300" cy="876300"/>
            <a:chOff x="0" y="0"/>
            <a:chExt cx="1168400" cy="1168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DCE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573000" y="2857500"/>
            <a:ext cx="876300" cy="876300"/>
            <a:chOff x="0" y="0"/>
            <a:chExt cx="1168400" cy="1168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049500" y="4476750"/>
            <a:ext cx="876300" cy="876300"/>
            <a:chOff x="0" y="0"/>
            <a:chExt cx="1168400" cy="1168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573000" y="6572250"/>
            <a:ext cx="876300" cy="876300"/>
            <a:chOff x="0" y="0"/>
            <a:chExt cx="1168400" cy="1168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5049500" y="7239000"/>
            <a:ext cx="876300" cy="876300"/>
            <a:chOff x="0" y="0"/>
            <a:chExt cx="1168400" cy="1168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95325"/>
            <a:ext cx="142875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Pseudocode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400175"/>
            <a:ext cx="1476375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65758B"/>
                </a:solidFill>
                <a:latin typeface="Aptos"/>
                <a:ea typeface="Aptos"/>
                <a:cs typeface="Aptos"/>
                <a:sym typeface="Aptos"/>
              </a:rPr>
              <a:t>Relax, record, and stop early when a full pass makes no change.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2286000"/>
            <a:ext cx="11239500" cy="7239000"/>
            <a:chOff x="0" y="0"/>
            <a:chExt cx="14986000" cy="9652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986000" cy="9652000"/>
            </a:xfrm>
            <a:custGeom>
              <a:avLst/>
              <a:gdLst/>
              <a:ahLst/>
              <a:cxnLst/>
              <a:rect r="r" b="b" t="t" l="l"/>
              <a:pathLst>
                <a:path h="9652000" w="14986000">
                  <a:moveTo>
                    <a:pt x="0" y="0"/>
                  </a:moveTo>
                  <a:lnTo>
                    <a:pt x="14986000" y="0"/>
                  </a:lnTo>
                  <a:lnTo>
                    <a:pt x="14986000" y="9652000"/>
                  </a:lnTo>
                  <a:lnTo>
                    <a:pt x="0" y="9652000"/>
                  </a:lnTo>
                  <a:close/>
                </a:path>
              </a:pathLst>
            </a:custGeom>
            <a:solidFill>
              <a:srgbClr val="102A43"/>
            </a:solidFill>
            <a:ln w="19050" cap="sq">
              <a:solidFill>
                <a:srgbClr val="102A4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986000" cy="969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71625" y="2686050"/>
            <a:ext cx="10191750" cy="408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BELLMAN-FORD(G, source):</a:t>
            </a:r>
          </a:p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initialize all distances to INFINITY</a:t>
            </a:r>
          </a:p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dist[source] = 0</a:t>
            </a:r>
          </a:p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repeat V - 1 times:</a:t>
            </a:r>
          </a:p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updated = false</a:t>
            </a:r>
          </a:p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for each edge (u, v, w):</a:t>
            </a:r>
          </a:p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if dist[u] != INFINITY and dist[u] + w &lt; dist[v]:</a:t>
            </a:r>
          </a:p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dist[v] = dist[u] + w</a:t>
            </a:r>
          </a:p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parent[v] = u</a:t>
            </a:r>
          </a:p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    updated = true</a:t>
            </a:r>
          </a:p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  if not updated: break</a:t>
            </a:r>
          </a:p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check all edges for further improvements</a:t>
            </a:r>
          </a:p>
          <a:p>
            <a:pPr algn="l">
              <a:lnSpc>
                <a:spcPts val="2475"/>
              </a:lnSpc>
            </a:pPr>
            <a:r>
              <a:rPr lang="en-US" sz="1875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 report a reachable negative cycle if found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239750" y="2819400"/>
            <a:ext cx="3619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F80ED"/>
                </a:solidFill>
                <a:latin typeface="Aptos Bold"/>
                <a:ea typeface="Aptos Bold"/>
                <a:cs typeface="Aptos Bold"/>
                <a:sym typeface="Aptos Bold"/>
              </a:rPr>
              <a:t>MAIN LOOP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39750" y="3305175"/>
            <a:ext cx="371475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At most V−1 complete passes.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39750" y="4819650"/>
            <a:ext cx="3619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28C28"/>
                </a:solidFill>
                <a:latin typeface="Aptos Bold"/>
                <a:ea typeface="Aptos Bold"/>
                <a:cs typeface="Aptos Bold"/>
                <a:sym typeface="Aptos Bold"/>
              </a:rPr>
              <a:t>RELAXATION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39750" y="5305425"/>
            <a:ext cx="3714750" cy="103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Update distance and parent only when a cheaper route is found.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39750" y="7200900"/>
            <a:ext cx="3619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F9E76"/>
                </a:solidFill>
                <a:latin typeface="Aptos Bold"/>
                <a:ea typeface="Aptos Bold"/>
                <a:cs typeface="Aptos Bold"/>
                <a:sym typeface="Aptos Bold"/>
              </a:rPr>
              <a:t>EARLY STOP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39750" y="7686675"/>
            <a:ext cx="371475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Break when a pass makes no updates.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95325"/>
            <a:ext cx="142875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Negative-Weight Cycle Detection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400175"/>
            <a:ext cx="1476375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65758B"/>
                </a:solidFill>
                <a:latin typeface="Aptos"/>
                <a:ea typeface="Aptos"/>
                <a:cs typeface="Aptos"/>
                <a:sym typeface="Aptos"/>
              </a:rPr>
              <a:t>A reachable negative cycle makes shortest distances undefined.</a:t>
            </a:r>
          </a:p>
        </p:txBody>
      </p:sp>
      <p:sp>
        <p:nvSpPr>
          <p:cNvPr name="AutoShape 4" id="4"/>
          <p:cNvSpPr/>
          <p:nvPr/>
        </p:nvSpPr>
        <p:spPr>
          <a:xfrm>
            <a:off x="5619750" y="4095750"/>
            <a:ext cx="4191000" cy="0"/>
          </a:xfrm>
          <a:prstGeom prst="line">
            <a:avLst/>
          </a:prstGeom>
          <a:ln cap="rnd" w="95250">
            <a:solidFill>
              <a:srgbClr val="F28C2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" id="5"/>
          <p:cNvSpPr/>
          <p:nvPr/>
        </p:nvSpPr>
        <p:spPr>
          <a:xfrm flipH="true">
            <a:off x="8096250" y="4762500"/>
            <a:ext cx="2381250" cy="2857500"/>
          </a:xfrm>
          <a:prstGeom prst="line">
            <a:avLst/>
          </a:prstGeom>
          <a:ln cap="rnd" w="95250">
            <a:solidFill>
              <a:srgbClr val="F28C28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" id="6"/>
          <p:cNvSpPr/>
          <p:nvPr/>
        </p:nvSpPr>
        <p:spPr>
          <a:xfrm flipH="true" flipV="true">
            <a:off x="4953000" y="4762500"/>
            <a:ext cx="2286000" cy="2857500"/>
          </a:xfrm>
          <a:prstGeom prst="line">
            <a:avLst/>
          </a:prstGeom>
          <a:ln cap="rnd" w="95250">
            <a:solidFill>
              <a:srgbClr val="F28C28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" id="7"/>
          <p:cNvGrpSpPr/>
          <p:nvPr/>
        </p:nvGrpSpPr>
        <p:grpSpPr>
          <a:xfrm rot="0">
            <a:off x="4381500" y="3667125"/>
            <a:ext cx="876300" cy="876300"/>
            <a:chOff x="0" y="0"/>
            <a:chExt cx="1168400" cy="1168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810750" y="3667125"/>
            <a:ext cx="876300" cy="876300"/>
            <a:chOff x="0" y="0"/>
            <a:chExt cx="1168400" cy="1168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239000" y="7620000"/>
            <a:ext cx="876300" cy="876300"/>
            <a:chOff x="0" y="0"/>
            <a:chExt cx="1168400" cy="1168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8400" cy="1168400"/>
            </a:xfrm>
            <a:custGeom>
              <a:avLst/>
              <a:gdLst/>
              <a:ahLst/>
              <a:cxnLst/>
              <a:rect r="r" b="b" t="t" l="l"/>
              <a:pathLst>
                <a:path h="1168400" w="1168400">
                  <a:moveTo>
                    <a:pt x="584200" y="0"/>
                  </a:moveTo>
                  <a:cubicBezTo>
                    <a:pt x="906845" y="0"/>
                    <a:pt x="1168400" y="261555"/>
                    <a:pt x="1168400" y="584200"/>
                  </a:cubicBezTo>
                  <a:cubicBezTo>
                    <a:pt x="1168400" y="906845"/>
                    <a:pt x="906845" y="1168400"/>
                    <a:pt x="584200" y="1168400"/>
                  </a:cubicBezTo>
                  <a:cubicBezTo>
                    <a:pt x="261555" y="1168400"/>
                    <a:pt x="0" y="906845"/>
                    <a:pt x="0" y="584200"/>
                  </a:cubicBezTo>
                  <a:cubicBezTo>
                    <a:pt x="0" y="261555"/>
                    <a:pt x="261555" y="0"/>
                    <a:pt x="5842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2F80ED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66675"/>
              <a:ext cx="1168400" cy="1235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  <a:r>
                <a:rPr lang="en-US" sz="2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7239000" y="3505200"/>
            <a:ext cx="762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+1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29750" y="6057900"/>
            <a:ext cx="762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F28C28"/>
                </a:solidFill>
                <a:latin typeface="Aptos Bold"/>
                <a:ea typeface="Aptos Bold"/>
                <a:cs typeface="Aptos Bold"/>
                <a:sym typeface="Aptos Bold"/>
              </a:rPr>
              <a:t>−3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24500" y="6172200"/>
            <a:ext cx="7620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2250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+1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239500" y="3295650"/>
            <a:ext cx="5715000" cy="672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F28C28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1 + (−3) + 1 = −1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39500" y="4733925"/>
            <a:ext cx="5524500" cy="1142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2"/>
              </a:lnSpc>
            </a:pPr>
            <a:r>
              <a:rPr lang="en-US" sz="2325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Each trip around the cycle reduces the path cost again. Distances can keep decreasing indefinitely.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239500" y="7105650"/>
            <a:ext cx="3810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2F80ED"/>
                </a:solidFill>
                <a:latin typeface="Aptos Bold"/>
                <a:ea typeface="Aptos Bold"/>
                <a:cs typeface="Aptos Bold"/>
                <a:sym typeface="Aptos Bold"/>
              </a:rPr>
              <a:t>Detection rule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239500" y="7591425"/>
            <a:ext cx="5715000" cy="103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After V−1 passes, scan every edge once more. Any improvement proves a reachable negative cycle.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95325"/>
            <a:ext cx="142875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Complexity and Applications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286000"/>
            <a:ext cx="7239000" cy="6477000"/>
            <a:chOff x="0" y="0"/>
            <a:chExt cx="9652000" cy="8636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652000" cy="8636000"/>
              <a:chOff x="0" y="0"/>
              <a:chExt cx="9652000" cy="8636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652000" cy="8636000"/>
              </a:xfrm>
              <a:custGeom>
                <a:avLst/>
                <a:gdLst/>
                <a:ahLst/>
                <a:cxnLst/>
                <a:rect r="r" b="b" t="t" l="l"/>
                <a:pathLst>
                  <a:path h="8636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8636000"/>
                    </a:lnTo>
                    <a:lnTo>
                      <a:pt x="0" y="8636000"/>
                    </a:lnTo>
                    <a:close/>
                  </a:path>
                </a:pathLst>
              </a:custGeom>
              <a:solidFill>
                <a:srgbClr val="DCEFFF"/>
              </a:solidFill>
              <a:ln w="19050" cap="sq">
                <a:solidFill>
                  <a:srgbClr val="DCEFFF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652000" cy="867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35000" y="590550"/>
              <a:ext cx="8255000" cy="619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7"/>
                </a:lnSpc>
              </a:pPr>
              <a:r>
                <a:rPr lang="en-US" sz="315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Complexity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35000" y="1685925"/>
              <a:ext cx="8255000" cy="1743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500"/>
                </a:lnSpc>
              </a:pPr>
              <a:r>
                <a:rPr lang="en-US" sz="7500" b="true">
                  <a:solidFill>
                    <a:srgbClr val="2F80ED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O(VE)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635000" y="3527425"/>
              <a:ext cx="8255000" cy="450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65758B"/>
                  </a:solidFill>
                  <a:latin typeface="Aptos"/>
                  <a:ea typeface="Aptos"/>
                  <a:cs typeface="Aptos"/>
                  <a:sym typeface="Aptos"/>
                </a:rPr>
                <a:t>time complexity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635000" y="4918075"/>
              <a:ext cx="8255000" cy="12490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559"/>
                </a:lnSpc>
              </a:pPr>
              <a:r>
                <a:rPr lang="en-US" sz="540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O(V)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635000" y="6384925"/>
              <a:ext cx="8255000" cy="450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65758B"/>
                  </a:solidFill>
                  <a:latin typeface="Aptos"/>
                  <a:ea typeface="Aptos"/>
                  <a:cs typeface="Aptos"/>
                  <a:sym typeface="Aptos"/>
                </a:rPr>
                <a:t>space, excluding graph storage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858250" y="2286000"/>
            <a:ext cx="8477250" cy="6477000"/>
            <a:chOff x="0" y="0"/>
            <a:chExt cx="11303000" cy="8636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1303000" cy="8636000"/>
              <a:chOff x="0" y="0"/>
              <a:chExt cx="11303000" cy="8636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303000" cy="8636000"/>
              </a:xfrm>
              <a:custGeom>
                <a:avLst/>
                <a:gdLst/>
                <a:ahLst/>
                <a:cxnLst/>
                <a:rect r="r" b="b" t="t" l="l"/>
                <a:pathLst>
                  <a:path h="8636000" w="11303000">
                    <a:moveTo>
                      <a:pt x="0" y="0"/>
                    </a:moveTo>
                    <a:lnTo>
                      <a:pt x="11303000" y="0"/>
                    </a:lnTo>
                    <a:lnTo>
                      <a:pt x="11303000" y="8636000"/>
                    </a:lnTo>
                    <a:lnTo>
                      <a:pt x="0" y="8636000"/>
                    </a:lnTo>
                    <a:close/>
                  </a:path>
                </a:pathLst>
              </a:custGeom>
              <a:solidFill>
                <a:srgbClr val="F7FBFF"/>
              </a:solidFill>
              <a:ln w="19050" cap="sq">
                <a:solidFill>
                  <a:srgbClr val="CBD8E6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1303000" cy="867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35000" y="590550"/>
              <a:ext cx="8890000" cy="6197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307"/>
                </a:lnSpc>
              </a:pPr>
              <a:r>
                <a:rPr lang="en-US" sz="3150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Applications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35000" y="1812925"/>
              <a:ext cx="9652000" cy="15132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22"/>
                </a:lnSpc>
              </a:pPr>
              <a:r>
                <a:rPr lang="en-US" sz="2325">
                  <a:solidFill>
                    <a:srgbClr val="102A43"/>
                  </a:solidFill>
                  <a:latin typeface="Aptos"/>
                  <a:ea typeface="Aptos"/>
                  <a:cs typeface="Aptos"/>
                  <a:sym typeface="Aptos"/>
                </a:rPr>
                <a:t>Negative-edge shortest paths</a:t>
              </a:r>
            </a:p>
            <a:p>
              <a:pPr algn="l">
                <a:lnSpc>
                  <a:spcPts val="3022"/>
                </a:lnSpc>
              </a:pPr>
              <a:r>
                <a:rPr lang="en-US" sz="2325">
                  <a:solidFill>
                    <a:srgbClr val="102A43"/>
                  </a:solidFill>
                  <a:latin typeface="Aptos"/>
                  <a:ea typeface="Aptos"/>
                  <a:cs typeface="Aptos"/>
                  <a:sym typeface="Aptos"/>
                </a:rPr>
                <a:t>Distance-vector routing</a:t>
              </a:r>
            </a:p>
            <a:p>
              <a:pPr algn="l">
                <a:lnSpc>
                  <a:spcPts val="3022"/>
                </a:lnSpc>
              </a:pPr>
              <a:r>
                <a:rPr lang="en-US" sz="2325">
                  <a:solidFill>
                    <a:srgbClr val="102A43"/>
                  </a:solidFill>
                  <a:latin typeface="Aptos"/>
                  <a:ea typeface="Aptos"/>
                  <a:cs typeface="Aptos"/>
                  <a:sym typeface="Aptos"/>
                </a:rPr>
                <a:t>Network and resource optimization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635000" y="5911850"/>
              <a:ext cx="4445000" cy="970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025" b="true">
                  <a:solidFill>
                    <a:srgbClr val="102A4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BELLMAN–FORD</a:t>
              </a:r>
            </a:p>
            <a:p>
              <a:pPr algn="l">
                <a:lnSpc>
                  <a:spcPts val="3037"/>
                </a:lnSpc>
              </a:pPr>
              <a:r>
                <a:rPr lang="en-US" sz="2025" b="true">
                  <a:solidFill>
                    <a:srgbClr val="102A4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Supports negative edges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5969000" y="5930900"/>
              <a:ext cx="4572000" cy="723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-US" sz="1500" b="true">
                  <a:solidFill>
                    <a:srgbClr val="102A4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DIJKSTRA</a:t>
              </a:r>
            </a:p>
            <a:p>
              <a:pPr algn="l">
                <a:lnSpc>
                  <a:spcPts val="2250"/>
                </a:lnSpc>
              </a:pPr>
              <a:r>
                <a:rPr lang="en-US" sz="1500" b="true">
                  <a:solidFill>
                    <a:srgbClr val="102A43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Faster when all edges are nonnegative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52500" y="695325"/>
            <a:ext cx="14287500" cy="67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2"/>
              </a:lnSpc>
            </a:pPr>
            <a:r>
              <a:rPr lang="en-US" sz="465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and Viva Questions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2500" y="1400175"/>
            <a:ext cx="14763750" cy="34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65758B"/>
                </a:solidFill>
                <a:latin typeface="Aptos"/>
                <a:ea typeface="Aptos"/>
                <a:cs typeface="Aptos"/>
                <a:sym typeface="Aptos"/>
              </a:rPr>
              <a:t>A compact mental model for exam and classroom recall.</a:t>
            </a:r>
          </a:p>
        </p:txBody>
      </p:sp>
      <p:sp>
        <p:nvSpPr>
          <p:cNvPr name="AutoShape 4" id="4"/>
          <p:cNvSpPr/>
          <p:nvPr/>
        </p:nvSpPr>
        <p:spPr>
          <a:xfrm>
            <a:off x="2333625" y="3810000"/>
            <a:ext cx="1047750" cy="0"/>
          </a:xfrm>
          <a:prstGeom prst="line">
            <a:avLst/>
          </a:prstGeom>
          <a:ln cap="rnd" w="4762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" id="5"/>
          <p:cNvSpPr/>
          <p:nvPr/>
        </p:nvSpPr>
        <p:spPr>
          <a:xfrm>
            <a:off x="5572125" y="3810000"/>
            <a:ext cx="1047750" cy="0"/>
          </a:xfrm>
          <a:prstGeom prst="line">
            <a:avLst/>
          </a:prstGeom>
          <a:ln cap="rnd" w="4762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6" id="6"/>
          <p:cNvSpPr/>
          <p:nvPr/>
        </p:nvSpPr>
        <p:spPr>
          <a:xfrm>
            <a:off x="8810625" y="3810000"/>
            <a:ext cx="1047750" cy="0"/>
          </a:xfrm>
          <a:prstGeom prst="line">
            <a:avLst/>
          </a:prstGeom>
          <a:ln cap="rnd" w="4762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" id="7"/>
          <p:cNvSpPr/>
          <p:nvPr/>
        </p:nvSpPr>
        <p:spPr>
          <a:xfrm>
            <a:off x="12049125" y="3810000"/>
            <a:ext cx="1047750" cy="0"/>
          </a:xfrm>
          <a:prstGeom prst="line">
            <a:avLst/>
          </a:prstGeom>
          <a:ln cap="rnd" w="47625">
            <a:solidFill>
              <a:srgbClr val="2F80ED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8" id="8"/>
          <p:cNvGrpSpPr/>
          <p:nvPr/>
        </p:nvGrpSpPr>
        <p:grpSpPr>
          <a:xfrm rot="0">
            <a:off x="666750" y="3143250"/>
            <a:ext cx="1666875" cy="1333500"/>
            <a:chOff x="0" y="0"/>
            <a:chExt cx="2222500" cy="1778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225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222500">
                  <a:moveTo>
                    <a:pt x="145143" y="0"/>
                  </a:moveTo>
                  <a:lnTo>
                    <a:pt x="2077357" y="0"/>
                  </a:lnTo>
                  <a:cubicBezTo>
                    <a:pt x="2157517" y="0"/>
                    <a:pt x="2222500" y="64983"/>
                    <a:pt x="2222500" y="145143"/>
                  </a:cubicBezTo>
                  <a:lnTo>
                    <a:pt x="2222500" y="1632857"/>
                  </a:lnTo>
                  <a:cubicBezTo>
                    <a:pt x="2222500" y="1713017"/>
                    <a:pt x="2157517" y="1778000"/>
                    <a:pt x="2077357" y="1778000"/>
                  </a:cubicBezTo>
                  <a:lnTo>
                    <a:pt x="145143" y="1778000"/>
                  </a:lnTo>
                  <a:cubicBezTo>
                    <a:pt x="64983" y="1778000"/>
                    <a:pt x="0" y="1713017"/>
                    <a:pt x="0" y="1632857"/>
                  </a:cubicBezTo>
                  <a:lnTo>
                    <a:pt x="0" y="145143"/>
                  </a:lnTo>
                  <a:cubicBezTo>
                    <a:pt x="0" y="64983"/>
                    <a:pt x="64983" y="0"/>
                    <a:pt x="145143" y="0"/>
                  </a:cubicBezTo>
                  <a:close/>
                </a:path>
              </a:pathLst>
            </a:custGeom>
            <a:solidFill>
              <a:srgbClr val="DCE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222500" cy="1787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Initialize distances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905250" y="3143250"/>
            <a:ext cx="1666875" cy="1333500"/>
            <a:chOff x="0" y="0"/>
            <a:chExt cx="22225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225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222500">
                  <a:moveTo>
                    <a:pt x="145143" y="0"/>
                  </a:moveTo>
                  <a:lnTo>
                    <a:pt x="2077357" y="0"/>
                  </a:lnTo>
                  <a:cubicBezTo>
                    <a:pt x="2157517" y="0"/>
                    <a:pt x="2222500" y="64983"/>
                    <a:pt x="2222500" y="145143"/>
                  </a:cubicBezTo>
                  <a:lnTo>
                    <a:pt x="2222500" y="1632857"/>
                  </a:lnTo>
                  <a:cubicBezTo>
                    <a:pt x="2222500" y="1713017"/>
                    <a:pt x="2157517" y="1778000"/>
                    <a:pt x="2077357" y="1778000"/>
                  </a:cubicBezTo>
                  <a:lnTo>
                    <a:pt x="145143" y="1778000"/>
                  </a:lnTo>
                  <a:cubicBezTo>
                    <a:pt x="64983" y="1778000"/>
                    <a:pt x="0" y="1713017"/>
                    <a:pt x="0" y="1632857"/>
                  </a:cubicBezTo>
                  <a:lnTo>
                    <a:pt x="0" y="145143"/>
                  </a:lnTo>
                  <a:cubicBezTo>
                    <a:pt x="0" y="64983"/>
                    <a:pt x="64983" y="0"/>
                    <a:pt x="145143" y="0"/>
                  </a:cubicBezTo>
                  <a:close/>
                </a:path>
              </a:pathLst>
            </a:custGeom>
            <a:solidFill>
              <a:srgbClr val="DCE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222500" cy="1787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Relax all edges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143750" y="3143250"/>
            <a:ext cx="1666875" cy="1333500"/>
            <a:chOff x="0" y="0"/>
            <a:chExt cx="2222500" cy="1778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225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222500">
                  <a:moveTo>
                    <a:pt x="145143" y="0"/>
                  </a:moveTo>
                  <a:lnTo>
                    <a:pt x="2077357" y="0"/>
                  </a:lnTo>
                  <a:cubicBezTo>
                    <a:pt x="2157517" y="0"/>
                    <a:pt x="2222500" y="64983"/>
                    <a:pt x="2222500" y="145143"/>
                  </a:cubicBezTo>
                  <a:lnTo>
                    <a:pt x="2222500" y="1632857"/>
                  </a:lnTo>
                  <a:cubicBezTo>
                    <a:pt x="2222500" y="1713017"/>
                    <a:pt x="2157517" y="1778000"/>
                    <a:pt x="2077357" y="1778000"/>
                  </a:cubicBezTo>
                  <a:lnTo>
                    <a:pt x="145143" y="1778000"/>
                  </a:lnTo>
                  <a:cubicBezTo>
                    <a:pt x="64983" y="1778000"/>
                    <a:pt x="0" y="1713017"/>
                    <a:pt x="0" y="1632857"/>
                  </a:cubicBezTo>
                  <a:lnTo>
                    <a:pt x="0" y="145143"/>
                  </a:lnTo>
                  <a:cubicBezTo>
                    <a:pt x="0" y="64983"/>
                    <a:pt x="64983" y="0"/>
                    <a:pt x="145143" y="0"/>
                  </a:cubicBezTo>
                  <a:close/>
                </a:path>
              </a:pathLst>
            </a:custGeom>
            <a:solidFill>
              <a:srgbClr val="DCE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222500" cy="1787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Repeat up to V−1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382250" y="3143250"/>
            <a:ext cx="1666875" cy="1333500"/>
            <a:chOff x="0" y="0"/>
            <a:chExt cx="2222500" cy="177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225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222500">
                  <a:moveTo>
                    <a:pt x="145143" y="0"/>
                  </a:moveTo>
                  <a:lnTo>
                    <a:pt x="2077357" y="0"/>
                  </a:lnTo>
                  <a:cubicBezTo>
                    <a:pt x="2157517" y="0"/>
                    <a:pt x="2222500" y="64983"/>
                    <a:pt x="2222500" y="145143"/>
                  </a:cubicBezTo>
                  <a:lnTo>
                    <a:pt x="2222500" y="1632857"/>
                  </a:lnTo>
                  <a:cubicBezTo>
                    <a:pt x="2222500" y="1713017"/>
                    <a:pt x="2157517" y="1778000"/>
                    <a:pt x="2077357" y="1778000"/>
                  </a:cubicBezTo>
                  <a:lnTo>
                    <a:pt x="145143" y="1778000"/>
                  </a:lnTo>
                  <a:cubicBezTo>
                    <a:pt x="64983" y="1778000"/>
                    <a:pt x="0" y="1713017"/>
                    <a:pt x="0" y="1632857"/>
                  </a:cubicBezTo>
                  <a:lnTo>
                    <a:pt x="0" y="145143"/>
                  </a:lnTo>
                  <a:cubicBezTo>
                    <a:pt x="0" y="64983"/>
                    <a:pt x="64983" y="0"/>
                    <a:pt x="145143" y="0"/>
                  </a:cubicBezTo>
                  <a:close/>
                </a:path>
              </a:pathLst>
            </a:custGeom>
            <a:solidFill>
              <a:srgbClr val="DCE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222500" cy="1787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102A4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Check negative cycles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620750" y="3143250"/>
            <a:ext cx="1666875" cy="1333500"/>
            <a:chOff x="0" y="0"/>
            <a:chExt cx="2222500" cy="1778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225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2222500">
                  <a:moveTo>
                    <a:pt x="145143" y="0"/>
                  </a:moveTo>
                  <a:lnTo>
                    <a:pt x="2077357" y="0"/>
                  </a:lnTo>
                  <a:cubicBezTo>
                    <a:pt x="2157517" y="0"/>
                    <a:pt x="2222500" y="64983"/>
                    <a:pt x="2222500" y="145143"/>
                  </a:cubicBezTo>
                  <a:lnTo>
                    <a:pt x="2222500" y="1632857"/>
                  </a:lnTo>
                  <a:cubicBezTo>
                    <a:pt x="2222500" y="1713017"/>
                    <a:pt x="2157517" y="1778000"/>
                    <a:pt x="2077357" y="1778000"/>
                  </a:cubicBezTo>
                  <a:lnTo>
                    <a:pt x="145143" y="1778000"/>
                  </a:lnTo>
                  <a:cubicBezTo>
                    <a:pt x="64983" y="1778000"/>
                    <a:pt x="0" y="1713017"/>
                    <a:pt x="0" y="1632857"/>
                  </a:cubicBezTo>
                  <a:lnTo>
                    <a:pt x="0" y="145143"/>
                  </a:lnTo>
                  <a:cubicBezTo>
                    <a:pt x="0" y="64983"/>
                    <a:pt x="64983" y="0"/>
                    <a:pt x="145143" y="0"/>
                  </a:cubicBezTo>
                  <a:close/>
                </a:path>
              </a:pathLst>
            </a:custGeom>
            <a:solidFill>
              <a:srgbClr val="102A43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2222500" cy="17875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  <a:p>
              <a:pPr algn="ctr">
                <a:lnSpc>
                  <a:spcPts val="2070"/>
                </a:lnSpc>
              </a:pPr>
              <a:r>
                <a:rPr lang="en-US" sz="1725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Return paths + distances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952500" y="5829300"/>
            <a:ext cx="47625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102A43"/>
                </a:solidFill>
                <a:latin typeface="Poppins Bold"/>
                <a:ea typeface="Poppins Bold"/>
                <a:cs typeface="Poppins Bold"/>
                <a:sym typeface="Poppins Bold"/>
              </a:rPr>
              <a:t>Viva questions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2500" y="6648450"/>
            <a:ext cx="5048250" cy="34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175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Why are V−1 passes sufficient?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67500" y="6648450"/>
            <a:ext cx="4095750" cy="34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175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What is edge relaxation?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06250" y="6648450"/>
            <a:ext cx="5334000" cy="343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27"/>
              </a:lnSpc>
            </a:pPr>
            <a:r>
              <a:rPr lang="en-US" sz="2175">
                <a:solidFill>
                  <a:srgbClr val="102A43"/>
                </a:solidFill>
                <a:latin typeface="Aptos"/>
                <a:ea typeface="Aptos"/>
                <a:cs typeface="Aptos"/>
                <a:sym typeface="Aptos"/>
              </a:rPr>
              <a:t>How is a negative cycle detected?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2500" y="8743950"/>
            <a:ext cx="8572500" cy="300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65758B"/>
                </a:solidFill>
                <a:latin typeface="Aptos"/>
                <a:ea typeface="Aptos"/>
                <a:cs typeface="Aptos"/>
                <a:sym typeface="Aptos"/>
              </a:rPr>
              <a:t>Use presenter notes for answer prompts and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DAHYVC1hP3w</dc:identifier>
  <dcterms:modified xsi:type="dcterms:W3CDTF">2011-08-01T06:04:30Z</dcterms:modified>
  <cp:revision>1</cp:revision>
  <dc:title>Bellman–Ford Algorithm</dc:title>
</cp:coreProperties>
</file>